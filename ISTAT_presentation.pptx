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26"/>
    <p:restoredTop sz="94655"/>
  </p:normalViewPr>
  <p:slideViewPr>
    <p:cSldViewPr snapToGrid="0">
      <p:cViewPr>
        <p:scale>
          <a:sx n="82" d="100"/>
          <a:sy n="82" d="100"/>
        </p:scale>
        <p:origin x="472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BCD5-E473-5B58-7A11-15FFB995D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39389-6ECD-3A37-C347-2B9F0A5E5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DDC87-63C2-0314-35D2-B088324A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E0-DC46-C544-B6BA-59A7A13F479B}" type="datetimeFigureOut">
              <a:rPr lang="en-IT" smtClean="0"/>
              <a:t>18/10/26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FB973-3CEA-9551-87EC-CAB7234F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30916-74D9-4482-0E98-1C845A1C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46ED4-8328-924A-B778-5DB50DC21D5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1715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C37B-2645-176F-DDD0-56A32DA6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9B179-6864-75D1-467D-42D9E5CE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8955D-D44E-A78F-DE14-1351BE2F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E0-DC46-C544-B6BA-59A7A13F479B}" type="datetimeFigureOut">
              <a:rPr lang="en-IT" smtClean="0"/>
              <a:t>18/10/26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95C8C-08E1-A175-2835-7F10051BB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47B39-58B7-C874-1DD3-B6C8BC60C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46ED4-8328-924A-B778-5DB50DC21D5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22302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23D22-FED7-63E5-8A5E-64BA1D01E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A66C6-20B2-D90B-AF6A-8D3759C84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200B2-7611-AB3D-35ED-6634E1B2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E0-DC46-C544-B6BA-59A7A13F479B}" type="datetimeFigureOut">
              <a:rPr lang="en-IT" smtClean="0"/>
              <a:t>18/10/26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F9BB2-61BA-E76D-9A8C-B8CEA137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A2951-0B67-6F43-CB1D-3D601457C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46ED4-8328-924A-B778-5DB50DC21D5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76607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AA8C9-8704-5387-4657-0C2E40757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E9213-E6DE-CA8A-D02E-B04ED88A5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E91F6-6D0A-17E3-5792-2760A2969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3ECCA-77B5-84B9-C44C-807BDE17B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E0-DC46-C544-B6BA-59A7A13F479B}" type="datetimeFigureOut">
              <a:rPr lang="en-IT" smtClean="0"/>
              <a:t>18/10/26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8FD83-614B-6E85-C088-663E855EF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9A642-CBE9-DA0C-1C66-872443985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46ED4-8328-924A-B778-5DB50DC21D5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8123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9085-AD65-198C-1F75-B72B41B6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E1D05-9839-6585-6A83-5A8FE0E16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82CB4-C51F-3451-DAA5-B1EB44C7E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7058A-7A7B-6F19-78A4-7AF2432D62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312D98-486A-D6A8-B355-A7153F151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40C82-390A-92F1-F12E-8BAD33B8F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E0-DC46-C544-B6BA-59A7A13F479B}" type="datetimeFigureOut">
              <a:rPr lang="en-IT" smtClean="0"/>
              <a:t>18/10/26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653ECA-C573-D511-091C-39FE13E3E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98405D-483B-BDD8-83A4-AC030DFBB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46ED4-8328-924A-B778-5DB50DC21D5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84414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EE769-D1FF-2077-7257-4E04BE771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07B151-A082-97DE-D97D-8639C32B6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E0-DC46-C544-B6BA-59A7A13F479B}" type="datetimeFigureOut">
              <a:rPr lang="en-IT" smtClean="0"/>
              <a:t>18/10/26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90F09-9E93-3B85-1332-4F0FF543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88756-EF44-1C06-0322-0637DEF7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46ED4-8328-924A-B778-5DB50DC21D5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1189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CAC29-D211-9F33-D610-5B1EF5E3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E0-DC46-C544-B6BA-59A7A13F479B}" type="datetimeFigureOut">
              <a:rPr lang="en-IT" smtClean="0"/>
              <a:t>18/10/26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A8339-DECA-84BF-DFB5-8CA384CCC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5464C-026A-7F36-1E27-F8DF09A5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46ED4-8328-924A-B778-5DB50DC21D5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6452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5397D-2BDC-3B8B-965F-22527CEAC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53494-D7DE-DCED-C503-62E1C7439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FFC9-B405-575A-8219-D20FC9A34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AC9BD-CBC5-9E26-0DB2-638D3542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E0-DC46-C544-B6BA-59A7A13F479B}" type="datetimeFigureOut">
              <a:rPr lang="en-IT" smtClean="0"/>
              <a:t>18/10/26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5A462-46E6-D714-8355-2FB06B43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5DBB0-EDC2-3766-4B14-1104B9927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46ED4-8328-924A-B778-5DB50DC21D5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28748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A5783-B5AE-6C12-BF2D-4D5BE5FB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E72805-0515-FCAD-7B9B-580BFC9C5D4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67DEC-42D7-2128-8B04-8D4711CB1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98479-84F2-C1D0-C408-70382E84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E0-DC46-C544-B6BA-59A7A13F479B}" type="datetimeFigureOut">
              <a:rPr lang="en-IT" smtClean="0"/>
              <a:t>18/10/26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A8FB1-DB64-6BEB-1123-1C623BAE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3DA32-EF83-6191-0F80-F12E9914B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46ED4-8328-924A-B778-5DB50DC21D5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95672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ADC9-7DAA-DD28-2E02-DA57AA49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4015C-A6D9-3FC6-6D21-7A4037AED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76163-EF82-FF8B-506C-1210CC572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E0-DC46-C544-B6BA-59A7A13F479B}" type="datetimeFigureOut">
              <a:rPr lang="en-IT" smtClean="0"/>
              <a:t>18/10/26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9586A-65B2-A9CC-31F7-7D4517EC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74D8B-906C-7F9C-DEB2-2602EFAC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46ED4-8328-924A-B778-5DB50DC21D5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26920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9A7E56-B0E2-F7EC-CC24-087B84562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0C26C-411D-6BD5-D678-95C68DB8F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CAA58-F016-58B9-FCDE-D06854DA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E0-DC46-C544-B6BA-59A7A13F479B}" type="datetimeFigureOut">
              <a:rPr lang="en-IT" smtClean="0"/>
              <a:t>18/10/26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C868B-E791-C6B5-159E-D8D8715D4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A5661-34A4-DE43-42F4-89D6BB56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46ED4-8328-924A-B778-5DB50DC21D5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4758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3C472F-F71E-0B9F-5A5E-74AC51FEE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011C6-40B8-042C-22AC-B54CB5897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F552B-82DB-075B-AB6C-7106484217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CD6E0-DC46-C544-B6BA-59A7A13F479B}" type="datetimeFigureOut">
              <a:rPr lang="en-IT" smtClean="0"/>
              <a:t>18/10/26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D510B-59CC-EAF0-3F5C-828598518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9EA21-6512-45A2-76F5-9B57C9C1C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46ED4-8328-924A-B778-5DB50DC21D5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20118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63E2-21F2-F55C-17F6-B6CFCC26E0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F00DE-9C01-68F3-09EF-F4C4333841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A0A8DC-112D-7249-978E-02799F48A729}"/>
              </a:ext>
            </a:extLst>
          </p:cNvPr>
          <p:cNvSpPr/>
          <p:nvPr/>
        </p:nvSpPr>
        <p:spPr>
          <a:xfrm>
            <a:off x="0" y="0"/>
            <a:ext cx="12350496" cy="6858000"/>
          </a:xfrm>
          <a:prstGeom prst="rect">
            <a:avLst/>
          </a:prstGeom>
          <a:solidFill>
            <a:srgbClr val="001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36BB79-24E1-112F-A781-68879DDE1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850" y="1600200"/>
            <a:ext cx="3568700" cy="850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C39FE1-6E4B-D1BB-C152-EC7644A6DCBC}"/>
              </a:ext>
            </a:extLst>
          </p:cNvPr>
          <p:cNvSpPr txBox="1"/>
          <p:nvPr/>
        </p:nvSpPr>
        <p:spPr>
          <a:xfrm>
            <a:off x="5053584" y="2794297"/>
            <a:ext cx="2084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b="1" dirty="0">
                <a:solidFill>
                  <a:schemeClr val="bg1"/>
                </a:solidFill>
              </a:rPr>
              <a:t>Final project</a:t>
            </a:r>
          </a:p>
          <a:p>
            <a:pPr algn="ctr"/>
            <a:endParaRPr lang="en-IT" b="1" dirty="0">
              <a:solidFill>
                <a:schemeClr val="bg1"/>
              </a:solidFill>
            </a:endParaRPr>
          </a:p>
          <a:p>
            <a:pPr algn="ctr"/>
            <a:r>
              <a:rPr lang="en-IT" b="1" dirty="0">
                <a:solidFill>
                  <a:schemeClr val="bg1"/>
                </a:solidFill>
              </a:rPr>
              <a:t>Jacopo Sinigaglia</a:t>
            </a:r>
          </a:p>
        </p:txBody>
      </p:sp>
    </p:spTree>
    <p:extLst>
      <p:ext uri="{BB962C8B-B14F-4D97-AF65-F5344CB8AC3E}">
        <p14:creationId xmlns:p14="http://schemas.microsoft.com/office/powerpoint/2010/main" val="2299564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5449-2586-5008-F7D5-E0E876FB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493822" cy="774906"/>
          </a:xfrm>
        </p:spPr>
        <p:txBody>
          <a:bodyPr>
            <a:normAutofit/>
          </a:bodyPr>
          <a:lstStyle/>
          <a:p>
            <a:r>
              <a:rPr lang="en-IT" b="1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FC069-7C63-FE8E-DDEB-BCA18B53F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416"/>
            <a:ext cx="11132127" cy="469254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1A1F2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Context: A road-safety company wants to know which Italian municipalities to invest in, and </a:t>
            </a:r>
            <a:r>
              <a:rPr lang="en-US" sz="2000" dirty="0" err="1">
                <a:solidFill>
                  <a:srgbClr val="1A1F2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</a:t>
            </a:r>
            <a:endParaRPr lang="en-US" sz="2000" dirty="0">
              <a:solidFill>
                <a:srgbClr val="1A1F2B"/>
              </a:solidFill>
              <a:latin typeface="Public Sans" pitchFamily="34" charset="0"/>
              <a:ea typeface="Public Sans" pitchFamily="34" charset="-122"/>
              <a:cs typeface="Public Sans" pitchFamily="34" charset="-120"/>
            </a:endParaRPr>
          </a:p>
          <a:p>
            <a:pPr marL="0" indent="0">
              <a:buNone/>
            </a:pPr>
            <a:endParaRPr lang="en-US" sz="2000" dirty="0">
              <a:solidFill>
                <a:srgbClr val="1A1F2B"/>
              </a:solidFill>
              <a:latin typeface="Public Sans" pitchFamily="34" charset="0"/>
              <a:ea typeface="Public Sans" pitchFamily="34" charset="-122"/>
              <a:cs typeface="Public Sans" pitchFamily="34" charset="-120"/>
            </a:endParaRPr>
          </a:p>
          <a:p>
            <a:r>
              <a:rPr lang="en-IT" sz="2000" dirty="0"/>
              <a:t>Where are road accidents highest, and why there?</a:t>
            </a:r>
            <a:endParaRPr lang="en-US" sz="2000" dirty="0">
              <a:solidFill>
                <a:srgbClr val="1A1F2B"/>
              </a:solidFill>
              <a:latin typeface="Public Sans" pitchFamily="34" charset="0"/>
              <a:ea typeface="Public Sans" pitchFamily="34" charset="-122"/>
            </a:endParaRPr>
          </a:p>
          <a:p>
            <a:endParaRPr lang="en-US" sz="2000" dirty="0">
              <a:solidFill>
                <a:srgbClr val="1A1F2B"/>
              </a:solidFill>
              <a:latin typeface="Public Sans" pitchFamily="34" charset="0"/>
              <a:ea typeface="Public Sans" pitchFamily="34" charset="-122"/>
            </a:endParaRPr>
          </a:p>
          <a:p>
            <a:r>
              <a:rPr lang="en-US" sz="2000" dirty="0">
                <a:solidFill>
                  <a:srgbClr val="1A1F2B"/>
                </a:solidFill>
                <a:latin typeface="Public Sans" pitchFamily="34" charset="0"/>
                <a:ea typeface="Public Sans" pitchFamily="34" charset="-122"/>
              </a:rPr>
              <a:t>How we measure risk: Three indicators used, </a:t>
            </a:r>
            <a:r>
              <a:rPr lang="en-IT" sz="2000" dirty="0"/>
              <a:t>accidents per 1,000 inhabitants (risk per person), accidents per km² (density) and total accidents (volume).</a:t>
            </a:r>
          </a:p>
          <a:p>
            <a:endParaRPr lang="en-IT" sz="2000" dirty="0"/>
          </a:p>
          <a:p>
            <a:r>
              <a:rPr lang="en-IT" sz="2000" dirty="0"/>
              <a:t>Data source: ISTAT API (SDMX, dataset 41_983) for accidents 2015–2024; SITUAS for municipality names, population and area (31/12/2020).</a:t>
            </a:r>
          </a:p>
          <a:p>
            <a:pPr>
              <a:buFontTx/>
              <a:buChar char="-"/>
            </a:pPr>
            <a:endParaRPr lang="en-IT" sz="2000" dirty="0"/>
          </a:p>
          <a:p>
            <a:pPr>
              <a:buFontTx/>
              <a:buChar char="-"/>
            </a:pPr>
            <a:endParaRPr lang="en-US" sz="2000" dirty="0"/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25720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0DA46-14A0-89CC-D470-19A8923A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966882" cy="704258"/>
          </a:xfrm>
        </p:spPr>
        <p:txBody>
          <a:bodyPr/>
          <a:lstStyle/>
          <a:p>
            <a:r>
              <a:rPr lang="en-IT" b="1" dirty="0"/>
              <a:t>Data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D7D01-3D45-F5B9-1CDD-3E4D53796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356"/>
            <a:ext cx="10515600" cy="4938301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T" sz="2400" dirty="0"/>
              <a:t>Fetch: ISTAT API by year chunks, with cache. SITUAS scraped with Selenium</a:t>
            </a:r>
          </a:p>
          <a:p>
            <a:pPr marL="514350" indent="-514350">
              <a:buFont typeface="+mj-lt"/>
              <a:buAutoNum type="arabicPeriod"/>
            </a:pPr>
            <a:endParaRPr lang="en-IT" sz="2400" dirty="0"/>
          </a:p>
          <a:p>
            <a:pPr marL="514350" indent="-514350">
              <a:buFont typeface="+mj-lt"/>
              <a:buAutoNum type="arabicPeriod"/>
            </a:pPr>
            <a:r>
              <a:rPr lang="en-IT" sz="2400" dirty="0"/>
              <a:t>Cleaning: Decode indicator codes, fill missing zeros (2024), drop merged municipalities (≤ 1% of accidents)</a:t>
            </a:r>
          </a:p>
          <a:p>
            <a:pPr marL="514350" indent="-514350">
              <a:buFont typeface="+mj-lt"/>
              <a:buAutoNum type="arabicPeriod"/>
            </a:pPr>
            <a:endParaRPr lang="en-IT" sz="2400" dirty="0"/>
          </a:p>
          <a:p>
            <a:pPr marL="514350" indent="-514350">
              <a:buFont typeface="+mj-lt"/>
              <a:buAutoNum type="arabicPeriod"/>
            </a:pPr>
            <a:r>
              <a:rPr lang="en-IT" sz="2400" dirty="0"/>
              <a:t>Join the data: Accidents + SITUAS population and area, by municipality code</a:t>
            </a:r>
          </a:p>
          <a:p>
            <a:pPr marL="514350" indent="-514350">
              <a:buFont typeface="+mj-lt"/>
              <a:buAutoNum type="arabicPeriod"/>
            </a:pPr>
            <a:endParaRPr lang="en-IT" sz="2400" dirty="0"/>
          </a:p>
          <a:p>
            <a:pPr marL="514350" indent="-514350">
              <a:buFont typeface="+mj-lt"/>
              <a:buAutoNum type="arabicPeriod"/>
            </a:pPr>
            <a:r>
              <a:rPr lang="en-IT" sz="2400" dirty="0"/>
              <a:t>Analysis: EDA, t-test, OLS regression, k-means clustering, forecast, risk score</a:t>
            </a:r>
          </a:p>
          <a:p>
            <a:pPr marL="514350" indent="-514350">
              <a:buFont typeface="+mj-lt"/>
              <a:buAutoNum type="arabicPeriod"/>
            </a:pPr>
            <a:endParaRPr lang="en-IT" sz="2400" dirty="0"/>
          </a:p>
          <a:p>
            <a:pPr marL="514350" indent="-514350">
              <a:buFont typeface="+mj-lt"/>
              <a:buAutoNum type="arabicPeriod"/>
            </a:pPr>
            <a:r>
              <a:rPr lang="en-IT" sz="2400" dirty="0"/>
              <a:t>Visualization: Power BI das</a:t>
            </a:r>
          </a:p>
          <a:p>
            <a:pPr marL="0" indent="0">
              <a:buNone/>
            </a:pPr>
            <a:endParaRPr lang="en-IT" sz="2400" dirty="0"/>
          </a:p>
          <a:p>
            <a:pPr marL="0" indent="0">
              <a:buNone/>
            </a:pPr>
            <a:r>
              <a:rPr lang="en-IT" sz="2400" dirty="0"/>
              <a:t>6.          Tools : ython (pandas, requests, Selenium, scikit-learn) · Power BI (Power Query, DAX) · Git/GitHub</a:t>
            </a:r>
          </a:p>
          <a:p>
            <a:pPr marL="0" indent="0">
              <a:buNone/>
            </a:pPr>
            <a:endParaRPr lang="en-IT" sz="2400" dirty="0"/>
          </a:p>
          <a:p>
            <a:pPr marL="0" indent="0">
              <a:buNone/>
            </a:pPr>
            <a:r>
              <a:rPr lang="en-IT" sz="2400" dirty="0"/>
              <a:t>Key choices:</a:t>
            </a:r>
          </a:p>
          <a:p>
            <a:pPr lvl="0"/>
            <a:r>
              <a:rPr lang="en-IT" sz="2400" dirty="0"/>
              <a:t>Analysis window 2022–2024: latest post-COVID years, 3-year average to reduce noise</a:t>
            </a:r>
          </a:p>
          <a:p>
            <a:pPr lvl="0"/>
            <a:r>
              <a:rPr lang="en-IT" sz="2400" dirty="0"/>
              <a:t>Rankings only for municipalities with at least 10,000 inhabitants, to avoid small-town outliers</a:t>
            </a:r>
          </a:p>
          <a:p>
            <a:pPr marL="0" indent="0">
              <a:buNone/>
            </a:pPr>
            <a:endParaRPr lang="en-IT" sz="2200" dirty="0"/>
          </a:p>
        </p:txBody>
      </p:sp>
    </p:spTree>
    <p:extLst>
      <p:ext uri="{BB962C8B-B14F-4D97-AF65-F5344CB8AC3E}">
        <p14:creationId xmlns:p14="http://schemas.microsoft.com/office/powerpoint/2010/main" val="302067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9D93-4E1B-FD5C-4360-900BC9B96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08812" cy="836146"/>
          </a:xfrm>
        </p:spPr>
        <p:txBody>
          <a:bodyPr/>
          <a:lstStyle/>
          <a:p>
            <a:r>
              <a:rPr lang="en-IT" b="1" dirty="0"/>
              <a:t>What the data shows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7F08F66-0AC4-C446-759A-5C8286DBF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22531"/>
            <a:ext cx="5597368" cy="31228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6BBEF5-A0D2-46A1-6FF2-CC10AE785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972" y="1006941"/>
            <a:ext cx="4724317" cy="455407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239ACE-F6AD-EEEF-F5B3-E996DED5DA1D}"/>
              </a:ext>
            </a:extLst>
          </p:cNvPr>
          <p:cNvSpPr txBox="1"/>
          <p:nvPr/>
        </p:nvSpPr>
        <p:spPr>
          <a:xfrm>
            <a:off x="838200" y="4964572"/>
            <a:ext cx="534948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b="1" dirty="0"/>
              <a:t>Stable Volume: </a:t>
            </a:r>
            <a:r>
              <a:rPr lang="en-IT" sz="1600" dirty="0"/>
              <a:t>About 170,000 accidents per year. -31% in 2020 (COVID), flat forecast to 2027.</a:t>
            </a:r>
          </a:p>
          <a:p>
            <a:endParaRPr lang="en-IT" sz="1600" dirty="0"/>
          </a:p>
          <a:p>
            <a:r>
              <a:rPr lang="en-IT" sz="1600" b="1" dirty="0"/>
              <a:t>North–South gap :</a:t>
            </a:r>
            <a:r>
              <a:rPr lang="en-IT" sz="1600" dirty="0"/>
              <a:t>Centre-North rate 53% higher than the South (3.22 vs 2.11 per 1,000 inhabitants). Statistically significant (t-test, p &lt; 0.001), confirmed by OLS regression.</a:t>
            </a:r>
          </a:p>
          <a:p>
            <a:endParaRPr lang="en-IT" dirty="0"/>
          </a:p>
          <a:p>
            <a:endParaRPr lang="en-IT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720E67-2A41-FCC1-39EE-11E917EAAFF1}"/>
              </a:ext>
            </a:extLst>
          </p:cNvPr>
          <p:cNvSpPr txBox="1"/>
          <p:nvPr/>
        </p:nvSpPr>
        <p:spPr>
          <a:xfrm>
            <a:off x="6629483" y="5735650"/>
            <a:ext cx="4561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b="1" dirty="0"/>
              <a:t>Concentrated risk: </a:t>
            </a:r>
            <a:r>
              <a:rPr lang="en-IT" sz="1600" dirty="0"/>
              <a:t>k-means clustering (k = 4): 128 urban hotspots account for 51% of all accidents.</a:t>
            </a:r>
          </a:p>
        </p:txBody>
      </p:sp>
    </p:spTree>
    <p:extLst>
      <p:ext uri="{BB962C8B-B14F-4D97-AF65-F5344CB8AC3E}">
        <p14:creationId xmlns:p14="http://schemas.microsoft.com/office/powerpoint/2010/main" val="2592243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41576-A9AE-832E-74E3-2BD095C91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983182" cy="703654"/>
          </a:xfrm>
        </p:spPr>
        <p:txBody>
          <a:bodyPr>
            <a:normAutofit fontScale="90000"/>
          </a:bodyPr>
          <a:lstStyle/>
          <a:p>
            <a:r>
              <a:rPr lang="en-IT" b="1" dirty="0"/>
              <a:t>Where to invest</a:t>
            </a:r>
            <a:br>
              <a:rPr lang="en-IT" dirty="0"/>
            </a:br>
            <a:endParaRPr lang="en-IT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0DF5AE-03BA-91B7-4D1C-957A81B2E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68780"/>
            <a:ext cx="6120740" cy="3669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AA322D-85E6-4DAC-A88F-A78D9C94A027}"/>
              </a:ext>
            </a:extLst>
          </p:cNvPr>
          <p:cNvSpPr txBox="1"/>
          <p:nvPr/>
        </p:nvSpPr>
        <p:spPr>
          <a:xfrm>
            <a:off x="7203374" y="1195357"/>
            <a:ext cx="3983182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700" b="1" dirty="0"/>
              <a:t>1. Start from the top 10</a:t>
            </a:r>
            <a:br>
              <a:rPr lang="en-IT" sz="1700" dirty="0"/>
            </a:br>
            <a:r>
              <a:rPr lang="en-IT" sz="1700" dirty="0"/>
              <a:t>20.6% of Italian accidents with 10.8% of the population: almost twice their demographic weight.</a:t>
            </a:r>
          </a:p>
          <a:p>
            <a:pPr marL="342900" indent="-342900">
              <a:buAutoNum type="arabicPeriod"/>
            </a:pPr>
            <a:endParaRPr lang="en-IT" sz="1700" dirty="0"/>
          </a:p>
          <a:p>
            <a:r>
              <a:rPr lang="en-IT" sz="1700" b="1" dirty="0"/>
              <a:t>2. Focus on the Centre-North</a:t>
            </a:r>
            <a:br>
              <a:rPr lang="en-IT" sz="1700" dirty="0"/>
            </a:br>
            <a:r>
              <a:rPr lang="en-IT" sz="1700" dirty="0"/>
              <a:t>Highest rates in Liguria, Tuscany and Emilia-Romagna; 9 of the top 10 municipalities are there.</a:t>
            </a:r>
          </a:p>
          <a:p>
            <a:endParaRPr lang="en-IT" sz="1700" dirty="0"/>
          </a:p>
          <a:p>
            <a:r>
              <a:rPr lang="en-IT" sz="1700" b="1" dirty="0"/>
              <a:t>3. In the South, target severity</a:t>
            </a:r>
            <a:br>
              <a:rPr lang="en-IT" sz="1700" dirty="0"/>
            </a:br>
            <a:r>
              <a:rPr lang="en-IT" sz="1700" dirty="0"/>
              <a:t>Fewer accidents, but about 3 deaths per 100 accidents vs 0.9 in urban hotspots.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E2DBA5-23C1-8E6F-6B92-2B14B033FADC}"/>
              </a:ext>
            </a:extLst>
          </p:cNvPr>
          <p:cNvSpPr txBox="1"/>
          <p:nvPr/>
        </p:nvSpPr>
        <p:spPr>
          <a:xfrm>
            <a:off x="838200" y="5343896"/>
            <a:ext cx="8673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/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Only accidents with injuries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2020 resident population (tourist towns overstated)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 national forecast only</a:t>
            </a:r>
          </a:p>
        </p:txBody>
      </p:sp>
    </p:spTree>
    <p:extLst>
      <p:ext uri="{BB962C8B-B14F-4D97-AF65-F5344CB8AC3E}">
        <p14:creationId xmlns:p14="http://schemas.microsoft.com/office/powerpoint/2010/main" val="369288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400</Words>
  <Application>Microsoft Macintosh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Public Sans</vt:lpstr>
      <vt:lpstr>Office Theme</vt:lpstr>
      <vt:lpstr>PowerPoint Presentation</vt:lpstr>
      <vt:lpstr>Problem</vt:lpstr>
      <vt:lpstr>Data and tools</vt:lpstr>
      <vt:lpstr>What the data shows</vt:lpstr>
      <vt:lpstr>Where to invest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Jacopo Sinigaglia</dc:creator>
  <cp:lastModifiedBy>Jacopo Sinigaglia</cp:lastModifiedBy>
  <cp:revision>4</cp:revision>
  <dcterms:created xsi:type="dcterms:W3CDTF">2026-10-17T20:57:46Z</dcterms:created>
  <dcterms:modified xsi:type="dcterms:W3CDTF">2026-10-18T19:49:56Z</dcterms:modified>
</cp:coreProperties>
</file>